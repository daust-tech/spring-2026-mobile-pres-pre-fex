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89aca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-60c22ade.png"/><Relationship Id="rId2" Type="http://schemas.openxmlformats.org/officeDocument/2006/relationships/image" Target="../media/image--41f7f4de.png"/><Relationship Id="rId3" Type="http://schemas.openxmlformats.org/officeDocument/2006/relationships/image" Target="../media/image-4bbdc8a2.png"/><Relationship Id="rId4" Type="http://schemas.openxmlformats.org/officeDocument/2006/relationships/image" Target="../media/image-3ed60d22.png"/><Relationship Id="rId5" Type="http://schemas.openxmlformats.org/officeDocument/2006/relationships/image" Target="../media/image-145aef62.png"/><Relationship Id="rId6" Type="http://schemas.openxmlformats.org/officeDocument/2006/relationships/image" Target="../media/image--d037f9e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-60c22ade.png"/><Relationship Id="rId2" Type="http://schemas.openxmlformats.org/officeDocument/2006/relationships/image" Target="../media/image--2afafd1e.png"/><Relationship Id="rId3" Type="http://schemas.openxmlformats.org/officeDocument/2006/relationships/image" Target="../media/image-62f2c022.png"/><Relationship Id="rId4" Type="http://schemas.openxmlformats.org/officeDocument/2006/relationships/image" Target="../media/image--1085f3de.png"/><Relationship Id="rId5" Type="http://schemas.openxmlformats.org/officeDocument/2006/relationships/image" Target="../media/image--68132a9e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-60c22ade.png"/><Relationship Id="rId2" Type="http://schemas.openxmlformats.org/officeDocument/2006/relationships/image" Target="../media/image-23afa5a2.png"/><Relationship Id="rId3" Type="http://schemas.openxmlformats.org/officeDocument/2006/relationships/image" Target="../media/image--2749585e.png"/><Relationship Id="rId4" Type="http://schemas.openxmlformats.org/officeDocument/2006/relationships/image" Target="../media/image--49ef4a9e.png"/><Relationship Id="rId5" Type="http://schemas.openxmlformats.org/officeDocument/2006/relationships/image" Target="../media/image-68efad6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-60c22ade.png"/><Relationship Id="rId2" Type="http://schemas.openxmlformats.org/officeDocument/2006/relationships/image" Target="../media/image--3a3e47de.png"/><Relationship Id="rId3" Type="http://schemas.openxmlformats.org/officeDocument/2006/relationships/image" Target="../media/image--586b2bde.png"/><Relationship Id="rId4" Type="http://schemas.openxmlformats.org/officeDocument/2006/relationships/image" Target="../media/image-40658b22.png"/><Relationship Id="rId5" Type="http://schemas.openxmlformats.org/officeDocument/2006/relationships/image" Target="../media/image-02c2aa6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-60c22ade.png"/><Relationship Id="rId2" Type="http://schemas.openxmlformats.org/officeDocument/2006/relationships/image" Target="../media/image-4d6568a2.png"/><Relationship Id="rId3" Type="http://schemas.openxmlformats.org/officeDocument/2006/relationships/image" Target="../media/image-0afad4e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-60c22ade.png"/><Relationship Id="rId2" Type="http://schemas.openxmlformats.org/officeDocument/2006/relationships/image" Target="../media/image-4d6568a2.png"/><Relationship Id="rId3" Type="http://schemas.openxmlformats.org/officeDocument/2006/relationships/image" Target="../media/image-68efad6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-60c22ade.png"/><Relationship Id="rId2" Type="http://schemas.openxmlformats.org/officeDocument/2006/relationships/image" Target="../media/image-3fd4c7a2.png"/><Relationship Id="rId3" Type="http://schemas.openxmlformats.org/officeDocument/2006/relationships/image" Target="../media/image-68efad6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-60c22ade.png"/><Relationship Id="rId2" Type="http://schemas.openxmlformats.org/officeDocument/2006/relationships/image" Target="../media/image--3d77585e.png"/><Relationship Id="rId3" Type="http://schemas.openxmlformats.org/officeDocument/2006/relationships/image" Target="../media/image--cd6c8de.png"/><Relationship Id="rId4" Type="http://schemas.openxmlformats.org/officeDocument/2006/relationships/image" Target="../media/image-76593822.png"/><Relationship Id="rId5" Type="http://schemas.openxmlformats.org/officeDocument/2006/relationships/image" Target="../media/image-5d55156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-60c22ade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-60c22ade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-60c22ade.png"/><Relationship Id="rId2" Type="http://schemas.openxmlformats.org/officeDocument/2006/relationships/image" Target="../media/image--2d2c9f9e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0" y="2685604"/>
            <a:ext cx="7677150" cy="14478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5759"/>
              </a:lnSpc>
            </a:pPr>
            <a:r>
              <a:rPr lang="en-US" sz="5063" spc="203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Nativewind: Tailwind</a:t>
            </a:r>
            <a:br>
              <a:rPr lang="en-US" sz="5063" spc="203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5063" spc="203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CSS for React Native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4" name="Image 0" descr="The NativeWind logo">    </p:cNvPr>
          <p:cNvPicPr>
            <a:picLocks noChangeAspect="1"/>
          </p:cNvPicPr>
          <p:nvPr/>
        </p:nvPicPr>
        <p:blipFill>
          <a:blip r:embed="rId1"/>
          <a:srcRect l="20023" r="20023" t="-31436" b="-31436"/>
          <a:stretch/>
        </p:blipFill>
        <p:spPr>
          <a:xfrm>
            <a:off x="0" y="0"/>
            <a:ext cx="3810000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91000" y="6161633"/>
            <a:ext cx="2000250" cy="1714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418"/>
              </a:lnSpc>
            </a:pPr>
            <a:r>
              <a:rPr lang="en-US" sz="1050" spc="105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MALIKA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191000" y="6425208"/>
            <a:ext cx="2089245" cy="1905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541"/>
              </a:lnSpc>
              <a:spcBef>
                <a:spcPts val="711"/>
              </a:spcBef>
            </a:pPr>
            <a:r>
              <a:rPr lang="en-US" sz="1084" spc="22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Mobile Development Course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-60c22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912489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6250" y="399901"/>
            <a:ext cx="11334750" cy="3619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879"/>
              </a:lnSpc>
            </a:pPr>
            <a:r>
              <a:rPr lang="en-US" sz="2531" spc="101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The Challenge of React Native Styling</a:t>
            </a:r>
            <a:endParaRPr lang="en-US" dirty="0"/>
          </a:p>
        </p:txBody>
      </p:sp>
      <p:pic>
        <p:nvPicPr>
          <p:cNvPr id="4" name="Image 1" descr="-41f7f4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320" y="1980460"/>
            <a:ext cx="457200" cy="3333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00250" y="1743670"/>
            <a:ext cx="3952875" cy="2095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02"/>
              </a:lnSpc>
            </a:pPr>
            <a:r>
              <a:rPr lang="en-US" sz="1260" spc="12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VERBOSE CODE</a:t>
            </a: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2000250" y="2026890"/>
            <a:ext cx="4268877" cy="9144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3"/>
              </a:lnSpc>
              <a:spcBef>
                <a:spcPts val="569"/>
              </a:spcBef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Styling simple components requires many lines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of code for properties like background color,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padding, borders, layout, and text styles, leading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to excessive verbosity.</a:t>
            </a:r>
            <a:endParaRPr lang="en-US" dirty="0"/>
          </a:p>
        </p:txBody>
      </p:sp>
      <p:pic>
        <p:nvPicPr>
          <p:cNvPr id="7" name="Image 2" descr="4bbdc8a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225" y="3533700"/>
            <a:ext cx="400050" cy="4000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00250" y="3324820"/>
            <a:ext cx="3952875" cy="2095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02"/>
              </a:lnSpc>
            </a:pPr>
            <a:r>
              <a:rPr lang="en-US" sz="1260" spc="12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NAMING CONVENTIONS</a:t>
            </a: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2000250" y="3608040"/>
            <a:ext cx="4277966" cy="9144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3"/>
              </a:lnSpc>
              <a:spcBef>
                <a:spcPts val="569"/>
              </a:spcBef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Developers need to create unique class names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for every element, which becomes difficult in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large applications, resulting in naming conflicts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and a cluttered codebase.</a:t>
            </a:r>
            <a:endParaRPr lang="en-US" dirty="0"/>
          </a:p>
        </p:txBody>
      </p:sp>
      <p:pic>
        <p:nvPicPr>
          <p:cNvPr id="10" name="Image 3" descr="3ed60d2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320" y="5198565"/>
            <a:ext cx="4572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000250" y="4905970"/>
            <a:ext cx="3952875" cy="2095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02"/>
              </a:lnSpc>
            </a:pPr>
            <a:r>
              <a:rPr lang="en-US" sz="1260" spc="12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FILE SEPARATION</a:t>
            </a:r>
            <a:endParaRPr lang="en-US" dirty="0"/>
          </a:p>
        </p:txBody>
      </p:sp>
      <p:sp>
        <p:nvSpPr>
          <p:cNvPr id="12" name="Text 6"/>
          <p:cNvSpPr/>
          <p:nvPr/>
        </p:nvSpPr>
        <p:spPr>
          <a:xfrm>
            <a:off x="2000250" y="5189190"/>
            <a:ext cx="4154325" cy="9144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3"/>
              </a:lnSpc>
              <a:spcBef>
                <a:spcPts val="569"/>
              </a:spcBef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JSX and style definitions are often in separate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files, disrupting development flow and making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it hard to understand a component's visual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structure at a glance.</a:t>
            </a:r>
            <a:endParaRPr lang="en-US" dirty="0"/>
          </a:p>
        </p:txBody>
      </p:sp>
      <p:pic>
        <p:nvPicPr>
          <p:cNvPr id="13" name="Image 4" descr="145aef6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0390" y="1952551"/>
            <a:ext cx="400050" cy="4000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239000" y="1743670"/>
            <a:ext cx="3952875" cy="2095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02"/>
              </a:lnSpc>
            </a:pPr>
            <a:r>
              <a:rPr lang="en-US" sz="1260" spc="12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REUSABILITY ISSUES</a:t>
            </a:r>
            <a:endParaRPr lang="en-US" dirty="0"/>
          </a:p>
        </p:txBody>
      </p:sp>
      <p:sp>
        <p:nvSpPr>
          <p:cNvPr id="15" name="Text 8"/>
          <p:cNvSpPr/>
          <p:nvPr/>
        </p:nvSpPr>
        <p:spPr>
          <a:xfrm>
            <a:off x="7239000" y="2026890"/>
            <a:ext cx="3952875" cy="9144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3"/>
              </a:lnSpc>
              <a:spcBef>
                <a:spcPts val="569"/>
              </a:spcBef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Hardcoding style values (like hex codes for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colors) across multiple files makes updates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tedious and error-prone, requiring manual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modification of every instance.</a:t>
            </a:r>
            <a:endParaRPr lang="en-US" dirty="0"/>
          </a:p>
        </p:txBody>
      </p:sp>
      <p:pic>
        <p:nvPicPr>
          <p:cNvPr id="16" name="Image 5" descr="-d037f9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006" y="3556025"/>
            <a:ext cx="533400" cy="35242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239000" y="3324820"/>
            <a:ext cx="3952875" cy="2095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02"/>
              </a:lnSpc>
            </a:pPr>
            <a:r>
              <a:rPr lang="en-US" sz="1260" spc="12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INCONSISTENCY</a:t>
            </a:r>
            <a:endParaRPr lang="en-US" dirty="0"/>
          </a:p>
        </p:txBody>
      </p:sp>
      <p:sp>
        <p:nvSpPr>
          <p:cNvPr id="18" name="Text 10"/>
          <p:cNvSpPr/>
          <p:nvPr/>
        </p:nvSpPr>
        <p:spPr>
          <a:xfrm>
            <a:off x="7239000" y="3608040"/>
            <a:ext cx="4217093" cy="9144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3"/>
              </a:lnSpc>
              <a:spcBef>
                <a:spcPts val="569"/>
              </a:spcBef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Variations in spacing or other style properties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can lead to an inconsistent look and feel across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the application, potentially going unnoticed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until deployment.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-60c22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912489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6250" y="399901"/>
            <a:ext cx="11334750" cy="3619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879"/>
              </a:lnSpc>
            </a:pPr>
            <a:r>
              <a:rPr lang="en-US" sz="2531" spc="101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Introducing Tailwind CSS</a:t>
            </a: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76250" y="1014413"/>
            <a:ext cx="11334750" cy="2476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94"/>
              </a:lnSpc>
              <a:spcBef>
                <a:spcPts val="1949"/>
              </a:spcBef>
            </a:pPr>
            <a:r>
              <a:rPr lang="en-US" sz="1403" spc="28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 Utility-First CSS Framework — born on the web, adopted by Nativewind</a:t>
            </a:r>
            <a:endParaRPr lang="en-US" dirty="0"/>
          </a:p>
        </p:txBody>
      </p:sp>
      <p:pic>
        <p:nvPicPr>
          <p:cNvPr id="5" name="Image 1" descr="-2afafd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065" y="2072429"/>
            <a:ext cx="419100" cy="3905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000250" y="1857970"/>
            <a:ext cx="3952875" cy="2095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02"/>
              </a:lnSpc>
            </a:pPr>
            <a:r>
              <a:rPr lang="en-US" sz="1260" spc="12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WHAT IS TAILWIND?</a:t>
            </a: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2000250" y="2141190"/>
            <a:ext cx="4159784" cy="1143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3"/>
              </a:lnSpc>
              <a:spcBef>
                <a:spcPts val="569"/>
              </a:spcBef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Tailwind CSS is a utility-first framework with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pre-built, single-task classes that you apply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directly to your HTML/JSX elements. This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approach eliminates the need for separate CSS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files and custom naming conventions.</a:t>
            </a:r>
            <a:endParaRPr lang="en-US" dirty="0"/>
          </a:p>
        </p:txBody>
      </p:sp>
      <p:pic>
        <p:nvPicPr>
          <p:cNvPr id="8" name="Image 2" descr="62f2c02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809" y="3871020"/>
            <a:ext cx="390525" cy="4095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000250" y="3667720"/>
            <a:ext cx="4200366" cy="2095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02"/>
              </a:lnSpc>
            </a:pPr>
            <a:r>
              <a:rPr lang="en-US" sz="1260" spc="12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THE NAMING PATTERN: `PROPERTY-VALUE`</a:t>
            </a: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2000250" y="3950940"/>
            <a:ext cx="4268558" cy="1143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3"/>
              </a:lnSpc>
              <a:spcBef>
                <a:spcPts val="569"/>
              </a:spcBef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Learn the pattern once, read any class instantly.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Examples include `bg-*` for background color,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`text-*` for text color/size, `p-*` for padding, `m-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*` for margin, `rounded-*` for border radius, and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`font-*` for font weight.</a:t>
            </a:r>
            <a:endParaRPr lang="en-US" dirty="0"/>
          </a:p>
        </p:txBody>
      </p:sp>
      <p:pic>
        <p:nvPicPr>
          <p:cNvPr id="11" name="Image 3" descr="-1085f3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975" y="2066855"/>
            <a:ext cx="390525" cy="39052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239000" y="1857970"/>
            <a:ext cx="4191444" cy="2095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02"/>
              </a:lnSpc>
            </a:pPr>
            <a:r>
              <a:rPr lang="en-US" sz="1260" spc="12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THE SPACING SCALE: CONSISTENCY IS KEY</a:t>
            </a: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7239000" y="2141190"/>
            <a:ext cx="4283743" cy="1143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3"/>
              </a:lnSpc>
              <a:spcBef>
                <a:spcPts val="569"/>
              </a:spcBef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Tailwind provides predictable values for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spacing (padding, margin, width, height) using a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consistent scale (e.g., `1`=4px, `4`=16px,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`8`=32px). This ensures uniformity across your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design.</a:t>
            </a:r>
            <a:endParaRPr lang="en-US" dirty="0"/>
          </a:p>
        </p:txBody>
      </p:sp>
      <p:pic>
        <p:nvPicPr>
          <p:cNvPr id="14" name="Image 4" descr="-68132a9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4815" y="3977062"/>
            <a:ext cx="419100" cy="2000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239000" y="3667720"/>
            <a:ext cx="3952875" cy="4191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02"/>
              </a:lnSpc>
            </a:pPr>
            <a:r>
              <a:rPr lang="en-US" sz="1260" spc="12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THE MENTAL SHIFT: DESCRIBE</a:t>
            </a:r>
            <a:br>
              <a:rPr lang="en-US" sz="1260" spc="12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</a:br>
            <a:r>
              <a:rPr lang="en-US" sz="1260" spc="12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APPEARANCE, NOT IDENTITY</a:t>
            </a:r>
            <a:endParaRPr lang="en-US" dirty="0"/>
          </a:p>
        </p:txBody>
      </p:sp>
      <p:sp>
        <p:nvSpPr>
          <p:cNvPr id="16" name="Text 9"/>
          <p:cNvSpPr/>
          <p:nvPr/>
        </p:nvSpPr>
        <p:spPr>
          <a:xfrm>
            <a:off x="7239000" y="4160490"/>
            <a:ext cx="4236470" cy="13716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3"/>
              </a:lnSpc>
              <a:spcBef>
                <a:spcPts val="569"/>
              </a:spcBef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Instead of naming elements and defining styles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separately (the old way), Tailwind encourages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you to describe how an element looks directly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on the element itself using classes like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`className="bg-blue-500 px-6 py-3 rounded-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full text-white font-bold"` (the Tailwind way).</a:t>
            </a:r>
            <a:endParaRPr lang="en-US" dirty="0"/>
          </a:p>
        </p:txBody>
      </p:sp>
      <p:sp>
        <p:nvSpPr>
          <p:cNvPr id="17" name="Shape 10"/>
          <p:cNvSpPr/>
          <p:nvPr/>
        </p:nvSpPr>
        <p:spPr>
          <a:xfrm>
            <a:off x="0" y="6181725"/>
            <a:ext cx="12192000" cy="676275"/>
          </a:xfrm>
          <a:prstGeom prst="rect">
            <a:avLst/>
          </a:prstGeom>
          <a:solidFill>
            <a:srgbClr val="0C0C0C"/>
          </a:solidFill>
          <a:ln>
            <a:miter lim="800000"/>
          </a:ln>
        </p:spPr>
      </p:sp>
      <p:sp>
        <p:nvSpPr>
          <p:cNvPr id="18" name="Text 11"/>
          <p:cNvSpPr/>
          <p:nvPr/>
        </p:nvSpPr>
        <p:spPr>
          <a:xfrm>
            <a:off x="3529994" y="6424315"/>
            <a:ext cx="5132013" cy="1905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560"/>
              </a:lnSpc>
            </a:pPr>
            <a:r>
              <a:rPr lang="en-US" sz="1155" spc="11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LEARN THE PATTERN ONCE, READ ANY CLASS INSTANTLY.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-60c22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912489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6250" y="399901"/>
            <a:ext cx="11334750" cy="3619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879"/>
              </a:lnSpc>
            </a:pPr>
            <a:r>
              <a:rPr lang="en-US" sz="2531" spc="101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Nativewind: Bridging Tailwind and React Native</a:t>
            </a: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76250" y="1014413"/>
            <a:ext cx="11334750" cy="2476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94"/>
              </a:lnSpc>
              <a:spcBef>
                <a:spcPts val="1949"/>
              </a:spcBef>
            </a:pPr>
            <a:r>
              <a:rPr lang="en-US" sz="1403" spc="28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Tailwind CSS utility classes, working inside React Native</a:t>
            </a:r>
            <a:endParaRPr lang="en-US" dirty="0"/>
          </a:p>
        </p:txBody>
      </p:sp>
      <p:pic>
        <p:nvPicPr>
          <p:cNvPr id="5" name="Image 1" descr="23afa5a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434" y="2740670"/>
            <a:ext cx="857250" cy="8096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1006" y="3952756"/>
            <a:ext cx="2543175" cy="2095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702"/>
              </a:lnSpc>
            </a:pPr>
            <a:r>
              <a:rPr lang="en-US" sz="1260" spc="12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THE CORE PROBLEM</a:t>
            </a: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360193" y="4235976"/>
            <a:ext cx="2684802" cy="6858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3"/>
              </a:lnSpc>
              <a:spcBef>
                <a:spcPts val="569"/>
              </a:spcBef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React Native does not support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CSS or `className`. It only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understands `style={{}}`.</a:t>
            </a:r>
            <a:endParaRPr lang="en-US" dirty="0"/>
          </a:p>
        </p:txBody>
      </p:sp>
      <p:pic>
        <p:nvPicPr>
          <p:cNvPr id="8" name="Image 2" descr="-2749585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35" y="2818805"/>
            <a:ext cx="571500" cy="6477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05826" y="3952756"/>
            <a:ext cx="2451411" cy="2095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702"/>
              </a:lnSpc>
            </a:pPr>
            <a:r>
              <a:rPr lang="en-US" sz="1260" spc="12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NATIVEWIND'S SOLUTION</a:t>
            </a: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3387996" y="4235976"/>
            <a:ext cx="2487071" cy="9144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3"/>
              </a:lnSpc>
              <a:spcBef>
                <a:spcPts val="569"/>
              </a:spcBef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Nativewind intercepts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`className` and converts it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into `style={{}}` props that React Native understands.</a:t>
            </a:r>
            <a:endParaRPr lang="en-US" dirty="0"/>
          </a:p>
        </p:txBody>
      </p:sp>
      <p:pic>
        <p:nvPicPr>
          <p:cNvPr id="11" name="Image 3" descr="-49ef4a9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4441" y="2729508"/>
            <a:ext cx="733425" cy="7429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07931" y="3952756"/>
            <a:ext cx="2505075" cy="4191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702"/>
              </a:lnSpc>
            </a:pPr>
            <a:r>
              <a:rPr lang="en-US" sz="1260" spc="12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SEAMLESS DEVELOPER</a:t>
            </a:r>
            <a:br>
              <a:rPr lang="en-US" sz="1260" spc="12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</a:br>
            <a:r>
              <a:rPr lang="en-US" sz="1260" spc="12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EXPERIENCE</a:t>
            </a: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6239542" y="4445526"/>
            <a:ext cx="2641853" cy="9144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3"/>
              </a:lnSpc>
              <a:spcBef>
                <a:spcPts val="569"/>
              </a:spcBef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Developers write `className`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and it works directly, with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Nativewind's conversion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happening invisibly.</a:t>
            </a:r>
            <a:endParaRPr lang="en-US" dirty="0"/>
          </a:p>
        </p:txBody>
      </p:sp>
      <p:pic>
        <p:nvPicPr>
          <p:cNvPr id="14" name="Image 4" descr="68efad6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2918" y="2807650"/>
            <a:ext cx="904875" cy="6667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251156" y="3952756"/>
            <a:ext cx="2476500" cy="2095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702"/>
              </a:lnSpc>
            </a:pPr>
            <a:r>
              <a:rPr lang="en-US" sz="1260" spc="12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CODE COMPARISON</a:t>
            </a:r>
            <a:endParaRPr lang="en-US" dirty="0"/>
          </a:p>
        </p:txBody>
      </p:sp>
      <p:sp>
        <p:nvSpPr>
          <p:cNvPr id="16" name="Text 9"/>
          <p:cNvSpPr/>
          <p:nvPr/>
        </p:nvSpPr>
        <p:spPr>
          <a:xfrm>
            <a:off x="9183509" y="4235976"/>
            <a:ext cx="2611795" cy="13716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3"/>
              </a:lnSpc>
              <a:spcBef>
                <a:spcPts val="569"/>
              </a:spcBef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Demonstrates the significant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reduction in code lines and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complexity when using Nativewind compared to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traditional React Native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styling.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457200" y="4160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CA5A5"/>
                </a:solidFill>
                <a:latin typeface="Roboto Bold"/>
              </a:rPr>
              <a:t>❌  WITHOUT NATIVEWIND: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62272"/>
            <a:ext cx="5303520" cy="19933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462272"/>
            <a:ext cx="54864" cy="1993392"/>
          </a:xfrm>
          <a:prstGeom prst="rect">
            <a:avLst/>
          </a:prstGeom>
          <a:solidFill>
            <a:srgbClr val="0C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4553712"/>
            <a:ext cx="51206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const styles = StyleSheet.create({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card: {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  backgroundColor: '#f3f4f6',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  padding: 16, borderRadius: 16,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  marginBottom: 12,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  flexDirection: 'row',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  alignItems: 'center',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},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name: { fontSize: 18, fontWeight: 'bold',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  color: '#111827' },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});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&lt;View style={styles.card}&gt;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&lt;Text style={styles.name}&gt;Senegal&lt;/Text&gt;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&lt;/View&gt;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416052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6EFAC"/>
                </a:solidFill>
                <a:latin typeface="Roboto Bold"/>
              </a:rPr>
              <a:t>✅  WITH NATIVEWIND: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4462272"/>
            <a:ext cx="5760720" cy="19933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89320" y="4462272"/>
            <a:ext cx="54864" cy="1993392"/>
          </a:xfrm>
          <a:prstGeom prst="rect">
            <a:avLst/>
          </a:prstGeom>
          <a:solidFill>
            <a:srgbClr val="0C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17336" y="4553712"/>
            <a:ext cx="55778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// No StyleSheet needed!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&lt;View className="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bg-gray-100 p-4 rounded-2xl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mb-3 flex-row items-center"&gt;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&lt;Text className="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  text-gray-900 text-lg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  font-bold"&gt;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  Senegal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&lt;/Text&gt;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&lt;/View&gt;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/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// Same result. 10 lines vs 14.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// Read className = see the style.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// No jumping to StyleSheet.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-60c22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912489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6250" y="399901"/>
            <a:ext cx="11334750" cy="3619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879"/>
              </a:lnSpc>
            </a:pPr>
            <a:r>
              <a:rPr lang="en-US" sz="2531" spc="101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Nativewind's Build-Time Pipeline</a:t>
            </a: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76250" y="1014413"/>
            <a:ext cx="11334750" cy="2476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94"/>
              </a:lnSpc>
              <a:spcBef>
                <a:spcPts val="1949"/>
              </a:spcBef>
            </a:pPr>
            <a:r>
              <a:rPr lang="en-US" sz="1403" spc="28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Transforming Tailwind CSS to Native Styles</a:t>
            </a:r>
            <a:endParaRPr lang="en-US" dirty="0"/>
          </a:p>
        </p:txBody>
      </p:sp>
      <p:pic>
        <p:nvPicPr>
          <p:cNvPr id="5" name="Image 1" descr="-3a3e47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495425"/>
            <a:ext cx="11620500" cy="4400550"/>
          </a:xfrm>
          <a:prstGeom prst="rect">
            <a:avLst/>
          </a:prstGeom>
        </p:spPr>
      </p:pic>
      <p:pic>
        <p:nvPicPr>
          <p:cNvPr id="6" name="Image 2" descr="-586b2b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495425"/>
            <a:ext cx="11620500" cy="4400550"/>
          </a:xfrm>
          <a:prstGeom prst="rect">
            <a:avLst/>
          </a:prstGeom>
        </p:spPr>
      </p:pic>
      <p:pic>
        <p:nvPicPr>
          <p:cNvPr id="7" name="Image 3" descr="40658b2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495425"/>
            <a:ext cx="11620500" cy="4400550"/>
          </a:xfrm>
          <a:prstGeom prst="rect">
            <a:avLst/>
          </a:prstGeom>
        </p:spPr>
      </p:pic>
      <p:pic>
        <p:nvPicPr>
          <p:cNvPr id="8" name="Image 4" descr="02c2aa6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1495425"/>
            <a:ext cx="11620500" cy="440055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6129338" y="2195721"/>
            <a:ext cx="5191125" cy="2095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702"/>
              </a:lnSpc>
            </a:pPr>
            <a:r>
              <a:rPr lang="en-US" sz="1260" spc="12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DEVELOPMENT</a:t>
            </a:r>
            <a:endParaRPr lang="en-US" dirty="0"/>
          </a:p>
        </p:txBody>
      </p:sp>
      <p:sp>
        <p:nvSpPr>
          <p:cNvPr id="10" name="Text 3"/>
          <p:cNvSpPr/>
          <p:nvPr/>
        </p:nvSpPr>
        <p:spPr>
          <a:xfrm>
            <a:off x="6129338" y="2478940"/>
            <a:ext cx="5572125" cy="2286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813"/>
              </a:lnSpc>
              <a:spcBef>
                <a:spcPts val="569"/>
              </a:spcBef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Write `className` strings directly on React Native components.</a:t>
            </a:r>
            <a:endParaRPr lang="en-US" dirty="0"/>
          </a:p>
        </p:txBody>
      </p:sp>
      <p:sp>
        <p:nvSpPr>
          <p:cNvPr id="11" name="Shape 4"/>
          <p:cNvSpPr/>
          <p:nvPr/>
        </p:nvSpPr>
        <p:spPr>
          <a:xfrm>
            <a:off x="5462588" y="2056625"/>
            <a:ext cx="476250" cy="476250"/>
          </a:xfrm>
          <a:prstGeom prst="ellipse">
            <a:avLst/>
          </a:prstGeom>
          <a:solidFill>
            <a:srgbClr val="5DA6B5"/>
          </a:solidFill>
          <a:ln>
            <a:miter lim="800000"/>
          </a:ln>
        </p:spPr>
      </p:sp>
      <p:sp>
        <p:nvSpPr>
          <p:cNvPr id="12" name="Text 5"/>
          <p:cNvSpPr/>
          <p:nvPr/>
        </p:nvSpPr>
        <p:spPr>
          <a:xfrm>
            <a:off x="5414963" y="2185659"/>
            <a:ext cx="571500" cy="2000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lang="en-US" sz="1406" spc="5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1</a:t>
            </a:r>
            <a:endParaRPr lang="en-US" dirty="0"/>
          </a:p>
        </p:txBody>
      </p:sp>
      <p:sp>
        <p:nvSpPr>
          <p:cNvPr id="13" name="Text 6"/>
          <p:cNvSpPr/>
          <p:nvPr/>
        </p:nvSpPr>
        <p:spPr>
          <a:xfrm>
            <a:off x="6129338" y="3086695"/>
            <a:ext cx="4152900" cy="2095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702"/>
              </a:lnSpc>
            </a:pPr>
            <a:r>
              <a:rPr lang="en-US" sz="1260" spc="12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BABEL TRANSFORMATION</a:t>
            </a:r>
            <a:endParaRPr lang="en-US" dirty="0"/>
          </a:p>
        </p:txBody>
      </p:sp>
      <p:sp>
        <p:nvSpPr>
          <p:cNvPr id="14" name="Text 7"/>
          <p:cNvSpPr/>
          <p:nvPr/>
        </p:nvSpPr>
        <p:spPr>
          <a:xfrm>
            <a:off x="6129338" y="3369915"/>
            <a:ext cx="4461797" cy="2286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813"/>
              </a:lnSpc>
              <a:spcBef>
                <a:spcPts val="569"/>
              </a:spcBef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Babel intercepts `className` props for conversion.</a:t>
            </a:r>
            <a:endParaRPr lang="en-US" dirty="0"/>
          </a:p>
        </p:txBody>
      </p:sp>
      <p:sp>
        <p:nvSpPr>
          <p:cNvPr id="15" name="Shape 8"/>
          <p:cNvSpPr/>
          <p:nvPr/>
        </p:nvSpPr>
        <p:spPr>
          <a:xfrm>
            <a:off x="5462588" y="2947600"/>
            <a:ext cx="476250" cy="476250"/>
          </a:xfrm>
          <a:prstGeom prst="ellipse">
            <a:avLst/>
          </a:prstGeom>
          <a:solidFill>
            <a:srgbClr val="72B2B6"/>
          </a:solidFill>
          <a:ln>
            <a:miter lim="800000"/>
          </a:ln>
        </p:spPr>
      </p:sp>
      <p:sp>
        <p:nvSpPr>
          <p:cNvPr id="16" name="Text 9"/>
          <p:cNvSpPr/>
          <p:nvPr/>
        </p:nvSpPr>
        <p:spPr>
          <a:xfrm>
            <a:off x="5414963" y="3076634"/>
            <a:ext cx="571500" cy="2000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lang="en-US" sz="1406" spc="5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2</a:t>
            </a:r>
            <a:endParaRPr lang="en-US" dirty="0"/>
          </a:p>
        </p:txBody>
      </p:sp>
      <p:sp>
        <p:nvSpPr>
          <p:cNvPr id="17" name="Text 10"/>
          <p:cNvSpPr/>
          <p:nvPr/>
        </p:nvSpPr>
        <p:spPr>
          <a:xfrm>
            <a:off x="6129338" y="3977670"/>
            <a:ext cx="4276725" cy="2095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702"/>
              </a:lnSpc>
            </a:pPr>
            <a:r>
              <a:rPr lang="en-US" sz="1260" spc="12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METRO BUNDLER PROCESSING</a:t>
            </a:r>
            <a:endParaRPr lang="en-US" dirty="0"/>
          </a:p>
        </p:txBody>
      </p:sp>
      <p:sp>
        <p:nvSpPr>
          <p:cNvPr id="18" name="Text 11"/>
          <p:cNvSpPr/>
          <p:nvPr/>
        </p:nvSpPr>
        <p:spPr>
          <a:xfrm>
            <a:off x="6129338" y="4260890"/>
            <a:ext cx="4596009" cy="2286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813"/>
              </a:lnSpc>
              <a:spcBef>
                <a:spcPts val="569"/>
              </a:spcBef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Metro converts classes to React Native style objects.</a:t>
            </a:r>
            <a:endParaRPr lang="en-US" dirty="0"/>
          </a:p>
        </p:txBody>
      </p:sp>
      <p:sp>
        <p:nvSpPr>
          <p:cNvPr id="19" name="Shape 12"/>
          <p:cNvSpPr/>
          <p:nvPr/>
        </p:nvSpPr>
        <p:spPr>
          <a:xfrm>
            <a:off x="5462588" y="3838575"/>
            <a:ext cx="476250" cy="476250"/>
          </a:xfrm>
          <a:prstGeom prst="ellipse">
            <a:avLst/>
          </a:prstGeom>
          <a:solidFill>
            <a:srgbClr val="86BFB8"/>
          </a:solidFill>
          <a:ln>
            <a:miter lim="800000"/>
          </a:ln>
        </p:spPr>
      </p:sp>
      <p:sp>
        <p:nvSpPr>
          <p:cNvPr id="20" name="Text 13"/>
          <p:cNvSpPr/>
          <p:nvPr/>
        </p:nvSpPr>
        <p:spPr>
          <a:xfrm>
            <a:off x="5414963" y="3967609"/>
            <a:ext cx="571500" cy="2000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lang="en-US" sz="1406" spc="5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3</a:t>
            </a:r>
            <a:endParaRPr lang="en-US" dirty="0"/>
          </a:p>
        </p:txBody>
      </p:sp>
      <p:sp>
        <p:nvSpPr>
          <p:cNvPr id="21" name="Text 14"/>
          <p:cNvSpPr/>
          <p:nvPr/>
        </p:nvSpPr>
        <p:spPr>
          <a:xfrm>
            <a:off x="6129338" y="4868645"/>
            <a:ext cx="3848100" cy="2095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702"/>
              </a:lnSpc>
            </a:pPr>
            <a:r>
              <a:rPr lang="en-US" sz="1260" spc="12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REACT NATIVE RENDERING</a:t>
            </a:r>
            <a:endParaRPr lang="en-US" dirty="0"/>
          </a:p>
        </p:txBody>
      </p:sp>
      <p:sp>
        <p:nvSpPr>
          <p:cNvPr id="22" name="Text 15"/>
          <p:cNvSpPr/>
          <p:nvPr/>
        </p:nvSpPr>
        <p:spPr>
          <a:xfrm>
            <a:off x="6129338" y="5151865"/>
            <a:ext cx="4125817" cy="2286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813"/>
              </a:lnSpc>
              <a:spcBef>
                <a:spcPts val="569"/>
              </a:spcBef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React Native receives standard `style={}` props.</a:t>
            </a:r>
            <a:endParaRPr lang="en-US" dirty="0"/>
          </a:p>
        </p:txBody>
      </p:sp>
      <p:sp>
        <p:nvSpPr>
          <p:cNvPr id="23" name="Shape 16"/>
          <p:cNvSpPr/>
          <p:nvPr/>
        </p:nvSpPr>
        <p:spPr>
          <a:xfrm>
            <a:off x="5462588" y="4729550"/>
            <a:ext cx="476250" cy="476250"/>
          </a:xfrm>
          <a:prstGeom prst="ellipse">
            <a:avLst/>
          </a:prstGeom>
          <a:solidFill>
            <a:srgbClr val="9BCBB9"/>
          </a:solidFill>
          <a:ln>
            <a:miter lim="800000"/>
          </a:ln>
        </p:spPr>
      </p:sp>
      <p:sp>
        <p:nvSpPr>
          <p:cNvPr id="24" name="Text 17"/>
          <p:cNvSpPr/>
          <p:nvPr/>
        </p:nvSpPr>
        <p:spPr>
          <a:xfrm>
            <a:off x="5414963" y="4858584"/>
            <a:ext cx="571500" cy="2000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lang="en-US" sz="1406" spc="5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4</a:t>
            </a:r>
            <a:endParaRPr lang="en-US" dirty="0"/>
          </a:p>
        </p:txBody>
      </p:sp>
      <p:sp>
        <p:nvSpPr>
          <p:cNvPr id="25" name="Shape 18"/>
          <p:cNvSpPr/>
          <p:nvPr/>
        </p:nvSpPr>
        <p:spPr>
          <a:xfrm>
            <a:off x="2738438" y="1950244"/>
            <a:ext cx="476250" cy="476250"/>
          </a:xfrm>
          <a:prstGeom prst="ellipse">
            <a:avLst/>
          </a:prstGeom>
          <a:solidFill>
            <a:srgbClr val="FFFFFF"/>
          </a:solidFill>
          <a:ln>
            <a:miter lim="800000"/>
          </a:ln>
        </p:spPr>
      </p:sp>
      <p:sp>
        <p:nvSpPr>
          <p:cNvPr id="26" name="Text 19"/>
          <p:cNvSpPr/>
          <p:nvPr/>
        </p:nvSpPr>
        <p:spPr>
          <a:xfrm>
            <a:off x="2690813" y="2079278"/>
            <a:ext cx="571500" cy="2000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lang="en-US" sz="1406" spc="5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1</a:t>
            </a:r>
            <a:endParaRPr lang="en-US" dirty="0"/>
          </a:p>
        </p:txBody>
      </p:sp>
      <p:sp>
        <p:nvSpPr>
          <p:cNvPr id="27" name="Shape 20"/>
          <p:cNvSpPr/>
          <p:nvPr/>
        </p:nvSpPr>
        <p:spPr>
          <a:xfrm>
            <a:off x="4245769" y="3457575"/>
            <a:ext cx="476250" cy="476250"/>
          </a:xfrm>
          <a:prstGeom prst="ellipse">
            <a:avLst/>
          </a:prstGeom>
          <a:solidFill>
            <a:srgbClr val="FFFFFF"/>
          </a:solidFill>
          <a:ln>
            <a:miter lim="800000"/>
          </a:ln>
        </p:spPr>
      </p:sp>
      <p:sp>
        <p:nvSpPr>
          <p:cNvPr id="28" name="Text 21"/>
          <p:cNvSpPr/>
          <p:nvPr/>
        </p:nvSpPr>
        <p:spPr>
          <a:xfrm>
            <a:off x="4198144" y="3586609"/>
            <a:ext cx="571500" cy="2000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lang="en-US" sz="1406" spc="5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2</a:t>
            </a:r>
            <a:endParaRPr lang="en-US" dirty="0"/>
          </a:p>
        </p:txBody>
      </p:sp>
      <p:sp>
        <p:nvSpPr>
          <p:cNvPr id="29" name="Shape 22"/>
          <p:cNvSpPr/>
          <p:nvPr/>
        </p:nvSpPr>
        <p:spPr>
          <a:xfrm>
            <a:off x="2738438" y="4964906"/>
            <a:ext cx="476250" cy="476250"/>
          </a:xfrm>
          <a:prstGeom prst="ellipse">
            <a:avLst/>
          </a:prstGeom>
          <a:solidFill>
            <a:srgbClr val="FFFFFF"/>
          </a:solidFill>
          <a:ln>
            <a:miter lim="800000"/>
          </a:ln>
        </p:spPr>
      </p:sp>
      <p:sp>
        <p:nvSpPr>
          <p:cNvPr id="30" name="Text 23"/>
          <p:cNvSpPr/>
          <p:nvPr/>
        </p:nvSpPr>
        <p:spPr>
          <a:xfrm>
            <a:off x="2690813" y="5093940"/>
            <a:ext cx="571500" cy="2000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lang="en-US" sz="1406" spc="5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3</a:t>
            </a:r>
            <a:endParaRPr lang="en-US" dirty="0"/>
          </a:p>
        </p:txBody>
      </p:sp>
      <p:sp>
        <p:nvSpPr>
          <p:cNvPr id="31" name="Shape 24"/>
          <p:cNvSpPr/>
          <p:nvPr/>
        </p:nvSpPr>
        <p:spPr>
          <a:xfrm>
            <a:off x="1231106" y="3457575"/>
            <a:ext cx="476250" cy="476250"/>
          </a:xfrm>
          <a:prstGeom prst="ellipse">
            <a:avLst/>
          </a:prstGeom>
          <a:solidFill>
            <a:srgbClr val="FFFFFF"/>
          </a:solidFill>
          <a:ln>
            <a:miter lim="800000"/>
          </a:ln>
        </p:spPr>
      </p:sp>
      <p:sp>
        <p:nvSpPr>
          <p:cNvPr id="32" name="Text 25"/>
          <p:cNvSpPr/>
          <p:nvPr/>
        </p:nvSpPr>
        <p:spPr>
          <a:xfrm>
            <a:off x="1183481" y="3586609"/>
            <a:ext cx="571500" cy="2000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lang="en-US" sz="1406" spc="5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4</a:t>
            </a:r>
            <a:endParaRPr lang="en-US" dirty="0"/>
          </a:p>
        </p:txBody>
      </p:sp>
      <p:sp>
        <p:nvSpPr>
          <p:cNvPr id="33" name="Shape 26"/>
          <p:cNvSpPr/>
          <p:nvPr/>
        </p:nvSpPr>
        <p:spPr>
          <a:xfrm>
            <a:off x="0" y="6181725"/>
            <a:ext cx="12192000" cy="676275"/>
          </a:xfrm>
          <a:prstGeom prst="rect">
            <a:avLst/>
          </a:prstGeom>
          <a:solidFill>
            <a:srgbClr val="0C0C0C"/>
          </a:solidFill>
          <a:ln>
            <a:miter lim="800000"/>
          </a:ln>
        </p:spPr>
      </p:sp>
      <p:sp>
        <p:nvSpPr>
          <p:cNvPr id="34" name="Text 27"/>
          <p:cNvSpPr/>
          <p:nvPr/>
        </p:nvSpPr>
        <p:spPr>
          <a:xfrm>
            <a:off x="609600" y="6424315"/>
            <a:ext cx="10972800" cy="1905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560"/>
              </a:lnSpc>
            </a:pPr>
            <a:r>
              <a:rPr lang="en-US" sz="1155" spc="11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THIS PROCESS OCCURS AT COMPILE TIME, ENSURING ZERO RUNTIME OVERHEAD. WRITE `CLASSNAME` ATTRIBUTES SEAMLESSLY.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-60c22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912489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6250" y="399901"/>
            <a:ext cx="11334750" cy="3619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879"/>
              </a:lnSpc>
            </a:pPr>
            <a:r>
              <a:rPr lang="en-US" sz="2531" spc="101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Setup: Installation and Configuration (Part 1)</a:t>
            </a: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76250" y="1014413"/>
            <a:ext cx="11334750" cy="2476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94"/>
              </a:lnSpc>
              <a:spcBef>
                <a:spcPts val="1949"/>
              </a:spcBef>
            </a:pPr>
            <a:r>
              <a:rPr lang="en-US" sz="1403" spc="28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Integrating Nativewind into your Expo project</a:t>
            </a:r>
            <a:endParaRPr lang="en-US" dirty="0"/>
          </a:p>
        </p:txBody>
      </p:sp>
      <p:pic>
        <p:nvPicPr>
          <p:cNvPr id="5" name="Image 1" descr="4d6568a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0136" y="2990560"/>
            <a:ext cx="904875" cy="666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24013" y="4135636"/>
            <a:ext cx="3705225" cy="2095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702"/>
              </a:lnSpc>
            </a:pPr>
            <a:r>
              <a:rPr lang="en-US" sz="1260" spc="12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STEP 1: INSTALL DEPENDENCIES</a:t>
            </a: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1492690" y="4418856"/>
            <a:ext cx="3967870" cy="9144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3"/>
              </a:lnSpc>
              <a:spcBef>
                <a:spcPts val="569"/>
              </a:spcBef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Run `npm install nativewind`, `npm install --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save-dev tailwindcss`, and `npx tailwindcss init` to install Nativewind, Tailwind CSS, and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initialize the configuration file.</a:t>
            </a:r>
            <a:endParaRPr lang="en-US" dirty="0"/>
          </a:p>
        </p:txBody>
      </p:sp>
      <p:pic>
        <p:nvPicPr>
          <p:cNvPr id="8" name="Image 2" descr="0afad4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3537" y="2945898"/>
            <a:ext cx="809625" cy="7810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693077" y="4135636"/>
            <a:ext cx="4044597" cy="2095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702"/>
              </a:lnSpc>
            </a:pPr>
            <a:r>
              <a:rPr lang="en-US" sz="1260" spc="12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STEP 2: CONFIGURE TAILWIND.CONFIG.JS</a:t>
            </a: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6611302" y="4418856"/>
            <a:ext cx="4208146" cy="6858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3"/>
              </a:lnSpc>
              <a:spcBef>
                <a:spcPts val="569"/>
              </a:spcBef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Replace the default `tailwind.config.js` with the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provided content, ensuring the `content` paths are correct and `nativewind/preset` is included.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" y="309067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Roboto Slab Regular"/>
              </a:rPr>
              <a:t>// Step 1 — run these commands: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64992"/>
            <a:ext cx="5303520" cy="12618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364992"/>
            <a:ext cx="54864" cy="1261872"/>
          </a:xfrm>
          <a:prstGeom prst="rect">
            <a:avLst/>
          </a:prstGeom>
          <a:solidFill>
            <a:srgbClr val="0C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3456432"/>
            <a:ext cx="5120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npm install nativewind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npm install --save-dev tailwindcss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npx tailwindcss init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/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# nativewind → gives you className prop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# tailwindcss → knows what bg-gray-100 means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# init → creates empty tailwind.config.js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3090672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Roboto Slab Regular"/>
              </a:rPr>
              <a:t>// Step 2 — tailwind.config.js: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3364992"/>
            <a:ext cx="5760720" cy="2697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3364992"/>
            <a:ext cx="54864" cy="2697480"/>
          </a:xfrm>
          <a:prstGeom prst="rect">
            <a:avLst/>
          </a:prstGeom>
          <a:solidFill>
            <a:srgbClr val="0C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17336" y="3456432"/>
            <a:ext cx="5577840" cy="2532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module.exports = {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  // Files to scan for classNames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  // Miss one → className won't work there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content: [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  "./app/**/*.{js,jsx,ts,tsx}",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  "./components/**/*.{js,jsx,ts,tsx}",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],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  // Makes classes React Native compatible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  // NOT web CSS — RN StyleSheet values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presets: [require('nativewind/preset')],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theme: { extend: {} },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  // ⚠️ EMPTY — Nativewind does NOT go here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plugins: [],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};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-60c22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912489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6250" y="399901"/>
            <a:ext cx="11334750" cy="3619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879"/>
              </a:lnSpc>
            </a:pPr>
            <a:r>
              <a:rPr lang="en-US" sz="2531" spc="101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Setup: Configuration (Part 2)</a:t>
            </a:r>
            <a:endParaRPr lang="en-US" dirty="0"/>
          </a:p>
        </p:txBody>
      </p:sp>
      <p:pic>
        <p:nvPicPr>
          <p:cNvPr id="4" name="Image 1" descr="4d6568a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0136" y="2681592"/>
            <a:ext cx="904875" cy="666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09713" y="3826788"/>
            <a:ext cx="3933825" cy="2095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702"/>
              </a:lnSpc>
            </a:pPr>
            <a:r>
              <a:rPr lang="en-US" sz="1260" spc="12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STEP 3: CONFIGURE BABEL.CONFIG.JS</a:t>
            </a: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1368874" y="4110008"/>
            <a:ext cx="4215503" cy="1143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3"/>
              </a:lnSpc>
              <a:spcBef>
                <a:spcPts val="569"/>
              </a:spcBef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Replace your `babel.config.js` with the provided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code. `jsxImportSource: "nativewind"` enables the `className` prop. Ensure you DO NOT add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`plugins: ['nativewind/babel']` as this is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outdated and will cause errors.</a:t>
            </a:r>
            <a:endParaRPr lang="en-US" dirty="0"/>
          </a:p>
        </p:txBody>
      </p:sp>
      <p:pic>
        <p:nvPicPr>
          <p:cNvPr id="7" name="Image 2" descr="68efad6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886" y="2681592"/>
            <a:ext cx="904875" cy="666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821709" y="3826788"/>
            <a:ext cx="3787332" cy="2095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702"/>
              </a:lnSpc>
            </a:pPr>
            <a:r>
              <a:rPr lang="en-US" sz="1260" spc="12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STEP 4: CONFIGURE METRO.CONFIG.JS</a:t>
            </a: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6754732" y="4110008"/>
            <a:ext cx="3921286" cy="13716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3"/>
              </a:lnSpc>
              <a:spcBef>
                <a:spcPts val="569"/>
              </a:spcBef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Create `metro.config.js` from scratch. The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`withNativeWind` function wraps the Metro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bundler to convert Tailwind classes to `StyleSheet` values at build time. The `input: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"./global.css"` points to your Tailwind entry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point.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" y="22402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Roboto Slab Regular"/>
              </a:rPr>
              <a:t>// Step 3 — babel.config.js: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14600"/>
            <a:ext cx="5303520" cy="2697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514600"/>
            <a:ext cx="54864" cy="2697480"/>
          </a:xfrm>
          <a:prstGeom prst="rect">
            <a:avLst/>
          </a:prstGeom>
          <a:solidFill>
            <a:srgbClr val="0C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2606040"/>
            <a:ext cx="5120640" cy="2532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module.exports = function(api) {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api.cache(true);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return {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  presets: [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    ["babel-preset-expo", {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        // This makes className work!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      jsxImportSource: "nativewind"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    }]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  ],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    // ❌ DO NOT add this: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    // plugins: ['nativewind/babel']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    // Removed in v4. Most tutorials WRONG.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};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};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24028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Roboto Slab Regular"/>
              </a:rPr>
              <a:t>// Step 4 — metro.config.js (create from scratch):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2514600"/>
            <a:ext cx="5760720" cy="2697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89320" y="2514600"/>
            <a:ext cx="54864" cy="2697480"/>
          </a:xfrm>
          <a:prstGeom prst="rect">
            <a:avLst/>
          </a:prstGeom>
          <a:solidFill>
            <a:srgbClr val="0C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17336" y="2606040"/>
            <a:ext cx="5577840" cy="2532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const { getDefaultConfig } =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require("expo/metro-config");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const { withNativeWind } =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require("nativewind/metro");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/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const config = getDefaultConfig(__dirname);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/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// Wraps Metro to convert Tailwind classes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// to StyleSheet values at build time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module.exports = withNativeWind(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config,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{ input: "./global.css" }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);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// input → points to your CSS entry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-60c22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912489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6250" y="399901"/>
            <a:ext cx="11334750" cy="3619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879"/>
              </a:lnSpc>
            </a:pPr>
            <a:r>
              <a:rPr lang="en-US" sz="2531" spc="101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Global Styles and App Entry</a:t>
            </a:r>
            <a:endParaRPr lang="en-US" dirty="0"/>
          </a:p>
        </p:txBody>
      </p:sp>
      <p:pic>
        <p:nvPicPr>
          <p:cNvPr id="4" name="Image 1" descr="3fd4c7a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223" y="2308487"/>
            <a:ext cx="800100" cy="10191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28763" y="3630811"/>
            <a:ext cx="3895725" cy="2095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702"/>
              </a:lnSpc>
            </a:pPr>
            <a:r>
              <a:rPr lang="en-US" sz="1260" spc="12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CREATE `GLOBAL.CSS`</a:t>
            </a: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1388537" y="3914031"/>
            <a:ext cx="4176175" cy="1143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3"/>
              </a:lnSpc>
              <a:spcBef>
                <a:spcPts val="569"/>
              </a:spcBef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At the project root, create `global.css` with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Tailwind directives: `@tailwind base`, `@tailwind components`, and `@tailwind utilities`. The `utilities` directive is crucial as it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enables all utility classes.</a:t>
            </a:r>
            <a:endParaRPr lang="en-US" dirty="0"/>
          </a:p>
        </p:txBody>
      </p:sp>
      <p:pic>
        <p:nvPicPr>
          <p:cNvPr id="7" name="Image 2" descr="68efad6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887" y="2485735"/>
            <a:ext cx="904875" cy="666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736652" y="3630811"/>
            <a:ext cx="3957446" cy="2095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702"/>
              </a:lnSpc>
            </a:pPr>
            <a:r>
              <a:rPr lang="en-US" sz="1260" spc="12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IMPORT `GLOBAL.CSS` IN `_LAYOUT.TSX`</a:t>
            </a: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6732511" y="3914031"/>
            <a:ext cx="3965728" cy="6858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3"/>
              </a:lnSpc>
              <a:spcBef>
                <a:spcPts val="569"/>
              </a:spcBef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Add `import "../global.css";` at the top of your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`app/_layout.tsx` file. This import activates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Nativewind for the entire application.</a:t>
            </a:r>
            <a:endParaRPr lang="en-US" dirty="0"/>
          </a:p>
        </p:txBody>
      </p:sp>
      <p:sp>
        <p:nvSpPr>
          <p:cNvPr id="10" name="Shape 5"/>
          <p:cNvSpPr/>
          <p:nvPr/>
        </p:nvSpPr>
        <p:spPr>
          <a:xfrm>
            <a:off x="0" y="6181725"/>
            <a:ext cx="12192000" cy="676275"/>
          </a:xfrm>
          <a:prstGeom prst="rect">
            <a:avLst/>
          </a:prstGeom>
          <a:solidFill>
            <a:srgbClr val="0C0C0C"/>
          </a:solidFill>
          <a:ln>
            <a:miter lim="800000"/>
          </a:ln>
        </p:spPr>
      </p:sp>
      <p:sp>
        <p:nvSpPr>
          <p:cNvPr id="11" name="Text 6"/>
          <p:cNvSpPr/>
          <p:nvPr/>
        </p:nvSpPr>
        <p:spPr>
          <a:xfrm>
            <a:off x="276225" y="6424315"/>
            <a:ext cx="11639550" cy="1905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560"/>
              </a:lnSpc>
            </a:pPr>
            <a:r>
              <a:rPr lang="en-US" sz="1155" spc="11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GOLDEN RULE: AFTER CHANGING ANY CONFIG FILE, ALWAYS RUN `NPX EXPO START --CLEAR` TO PREVENT CACHING ISSUES WITH METRO.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57200" y="13716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Roboto Slab Regular"/>
              </a:rPr>
              <a:t>// Step 5 — global.css (create at project root):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45920"/>
            <a:ext cx="5303520" cy="20299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645920"/>
            <a:ext cx="54864" cy="2029968"/>
          </a:xfrm>
          <a:prstGeom prst="rect">
            <a:avLst/>
          </a:prstGeom>
          <a:solidFill>
            <a:srgbClr val="0C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1737360"/>
            <a:ext cx="5120640" cy="18653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/* global.css */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/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/* Injects base resets */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@tailwind base;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/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/* Injects component styles */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@tailwind components;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/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/* ⭐ MOST IMPORTANT — injects ALL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   utility classes: bg-, p-, text-... */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/* Without this: NOTHING works */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@tailwind utilities;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37160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Roboto Slab Regular"/>
              </a:rPr>
              <a:t>// Step 6 — activate in app/_layout.tsx: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1645920"/>
            <a:ext cx="5760720" cy="20299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1645920"/>
            <a:ext cx="54864" cy="2029968"/>
          </a:xfrm>
          <a:prstGeom prst="rect">
            <a:avLst/>
          </a:prstGeom>
          <a:solidFill>
            <a:srgbClr val="0C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17336" y="1737360"/>
            <a:ext cx="5577840" cy="18653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// app/_layout.tsx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/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// ⭐ This ONE import activates Nativewind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// for the ENTIRE app.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// Forget this → className works nowhere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import "../global.css";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/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import { Stack } from "expo-router";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/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export default function RootLayout() {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return (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  &lt;Stack screenOptions={{headerShown:false}} /&gt;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);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-60c22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912489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6250" y="399901"/>
            <a:ext cx="11334750" cy="3619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879"/>
              </a:lnSpc>
            </a:pPr>
            <a:r>
              <a:rPr lang="en-US" sz="2531" spc="101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Tailwind Classes Cheatsheet</a:t>
            </a: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76250" y="1014413"/>
            <a:ext cx="11334750" cy="2476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94"/>
              </a:lnSpc>
              <a:spcBef>
                <a:spcPts val="1949"/>
              </a:spcBef>
            </a:pPr>
            <a:r>
              <a:rPr lang="en-US" sz="1403" spc="28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The classes you will use in 90% of your components — with exact pixel values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476250" y="2781300"/>
            <a:ext cx="2667000" cy="2862263"/>
          </a:xfrm>
          <a:prstGeom prst="rect">
            <a:avLst/>
          </a:prstGeom>
          <a:solidFill>
            <a:srgbClr val="5DA6B5"/>
          </a:solidFill>
          <a:ln>
            <a:miter lim="800000"/>
          </a:ln>
        </p:spPr>
      </p:sp>
      <p:sp>
        <p:nvSpPr>
          <p:cNvPr id="6" name="Text 3"/>
          <p:cNvSpPr/>
          <p:nvPr/>
        </p:nvSpPr>
        <p:spPr>
          <a:xfrm>
            <a:off x="762000" y="3278088"/>
            <a:ext cx="2190750" cy="4572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44"/>
              </a:lnSpc>
            </a:pPr>
            <a:r>
              <a:rPr lang="en-US" sz="1365" spc="13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COLORS &amp;</a:t>
            </a:r>
            <a:br>
              <a:rPr lang="en-US" sz="1365" spc="13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</a:br>
            <a:r>
              <a:rPr lang="en-US" sz="1365" spc="13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BACKGROUNDS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62000" y="3804345"/>
            <a:ext cx="2220007" cy="16002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3"/>
              </a:lnSpc>
              <a:spcBef>
                <a:spcPts val="533"/>
              </a:spcBef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Classes for setting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background colors (e.g.,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`bg-white`, `bg-gray-100`,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`bg-blue-500`) and text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colors (e.g., `text-gray-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900`, `text-white`, `text-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gray-500`).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1452563" y="2424113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68B99"/>
            </a:solidFill>
            <a:prstDash val="solid"/>
            <a:miter lim="800000"/>
          </a:ln>
        </p:spPr>
      </p:sp>
      <p:pic>
        <p:nvPicPr>
          <p:cNvPr id="9" name="Image 1" descr="-3d77585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876" y="2626427"/>
            <a:ext cx="314325" cy="31432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33750" y="2781300"/>
            <a:ext cx="2667000" cy="2862263"/>
          </a:xfrm>
          <a:prstGeom prst="rect">
            <a:avLst/>
          </a:prstGeom>
          <a:solidFill>
            <a:srgbClr val="72B2B6"/>
          </a:solidFill>
          <a:ln>
            <a:miter lim="800000"/>
          </a:ln>
        </p:spPr>
      </p:sp>
      <p:sp>
        <p:nvSpPr>
          <p:cNvPr id="11" name="Text 7"/>
          <p:cNvSpPr/>
          <p:nvPr/>
        </p:nvSpPr>
        <p:spPr>
          <a:xfrm>
            <a:off x="3619500" y="3278088"/>
            <a:ext cx="2190750" cy="2286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44"/>
              </a:lnSpc>
            </a:pPr>
            <a:r>
              <a:rPr lang="en-US" sz="1365" spc="136" kern="0" dirty="0">
                <a:solidFill>
                  <a:srgbClr val="000000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SPACING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3619500" y="3575745"/>
            <a:ext cx="2323180" cy="13716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3"/>
              </a:lnSpc>
              <a:spcBef>
                <a:spcPts val="533"/>
              </a:spcBef>
            </a:pPr>
            <a:r>
              <a:rPr lang="en-US" sz="1275" spc="2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Classes for controlling</a:t>
            </a:r>
            <a:br>
              <a:rPr lang="en-US" sz="1275" spc="2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padding (e.g., `p-4`, `px-6`,</a:t>
            </a:r>
            <a:br>
              <a:rPr lang="en-US" sz="1275" spc="2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`py-3`) and margins (e.g.,</a:t>
            </a:r>
            <a:br>
              <a:rPr lang="en-US" sz="1275" spc="2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`mb-3`, `mt-6`). Includes</a:t>
            </a:r>
            <a:br>
              <a:rPr lang="en-US" sz="1275" spc="2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specific values like `pt-16`</a:t>
            </a:r>
            <a:br>
              <a:rPr lang="en-US" sz="1275" spc="2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for status bar height.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4310063" y="2424113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549DA1"/>
            </a:solidFill>
            <a:prstDash val="solid"/>
            <a:miter lim="800000"/>
          </a:ln>
        </p:spPr>
      </p:sp>
      <p:pic>
        <p:nvPicPr>
          <p:cNvPr id="14" name="Image 2" descr="-cd6c8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747" y="2636891"/>
            <a:ext cx="314325" cy="31432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191250" y="2781300"/>
            <a:ext cx="2667000" cy="2862263"/>
          </a:xfrm>
          <a:prstGeom prst="rect">
            <a:avLst/>
          </a:prstGeom>
          <a:solidFill>
            <a:srgbClr val="86BFB8"/>
          </a:solidFill>
          <a:ln>
            <a:miter lim="800000"/>
          </a:ln>
        </p:spPr>
      </p:sp>
      <p:sp>
        <p:nvSpPr>
          <p:cNvPr id="16" name="Text 11"/>
          <p:cNvSpPr/>
          <p:nvPr/>
        </p:nvSpPr>
        <p:spPr>
          <a:xfrm>
            <a:off x="6477000" y="3278088"/>
            <a:ext cx="2190750" cy="2286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44"/>
              </a:lnSpc>
            </a:pPr>
            <a:r>
              <a:rPr lang="en-US" sz="1365" spc="136" kern="0" dirty="0">
                <a:solidFill>
                  <a:srgbClr val="000000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TYPOGRAPHY</a:t>
            </a: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6477000" y="3575745"/>
            <a:ext cx="2345236" cy="13716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3"/>
              </a:lnSpc>
              <a:spcBef>
                <a:spcPts val="533"/>
              </a:spcBef>
            </a:pPr>
            <a:r>
              <a:rPr lang="en-US" sz="1275" spc="2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Classes for font sizes (e.g.,</a:t>
            </a:r>
            <a:br>
              <a:rPr lang="en-US" sz="1275" spc="2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`text-sm`, `text-base`,</a:t>
            </a:r>
            <a:br>
              <a:rPr lang="en-US" sz="1275" spc="2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`text-2xl`), font weights</a:t>
            </a:r>
            <a:br>
              <a:rPr lang="en-US" sz="1275" spc="2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(e.g., `font-bold`, `font-</a:t>
            </a:r>
            <a:br>
              <a:rPr lang="en-US" sz="1275" spc="2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semibold`), and text</a:t>
            </a:r>
            <a:br>
              <a:rPr lang="en-US" sz="1275" spc="2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alignment (`text-center`).</a:t>
            </a: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7167563" y="2424113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65ADA4"/>
            </a:solidFill>
            <a:prstDash val="solid"/>
            <a:miter lim="800000"/>
          </a:ln>
        </p:spPr>
      </p:sp>
      <p:pic>
        <p:nvPicPr>
          <p:cNvPr id="19" name="Image 3" descr="7659382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917" y="2618055"/>
            <a:ext cx="219075" cy="3429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048750" y="2781300"/>
            <a:ext cx="2667000" cy="2862263"/>
          </a:xfrm>
          <a:prstGeom prst="rect">
            <a:avLst/>
          </a:prstGeom>
          <a:solidFill>
            <a:srgbClr val="9BCBB9"/>
          </a:solidFill>
          <a:ln>
            <a:miter lim="800000"/>
          </a:ln>
        </p:spPr>
      </p:sp>
      <p:sp>
        <p:nvSpPr>
          <p:cNvPr id="21" name="Text 15"/>
          <p:cNvSpPr/>
          <p:nvPr/>
        </p:nvSpPr>
        <p:spPr>
          <a:xfrm>
            <a:off x="9334500" y="3278088"/>
            <a:ext cx="2190750" cy="2286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44"/>
              </a:lnSpc>
            </a:pPr>
            <a:r>
              <a:rPr lang="en-US" sz="1365" spc="136" kern="0" dirty="0">
                <a:solidFill>
                  <a:srgbClr val="000000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LAYOUT &amp; SHAPE</a:t>
            </a: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9334500" y="3575745"/>
            <a:ext cx="2332747" cy="18288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13"/>
              </a:lnSpc>
              <a:spcBef>
                <a:spcPts val="533"/>
              </a:spcBef>
            </a:pPr>
            <a:r>
              <a:rPr lang="en-US" sz="1275" spc="2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Classes for layout (e.g.,</a:t>
            </a:r>
            <a:br>
              <a:rPr lang="en-US" sz="1275" spc="2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`flex-1`, `flex-row`, `items-</a:t>
            </a:r>
            <a:br>
              <a:rPr lang="en-US" sz="1275" spc="2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center`, `justify-between`),</a:t>
            </a:r>
            <a:br>
              <a:rPr lang="en-US" sz="1275" spc="2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width (`w-full`), and</a:t>
            </a:r>
            <a:br>
              <a:rPr lang="en-US" sz="1275" spc="2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border-radius for rounded</a:t>
            </a:r>
            <a:br>
              <a:rPr lang="en-US" sz="1275" spc="2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corners (e.g., `rounded-xl`,</a:t>
            </a:r>
            <a:br>
              <a:rPr lang="en-US" sz="1275" spc="2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`rounded-2xl`, `rounded-</a:t>
            </a:r>
            <a:br>
              <a:rPr lang="en-US" sz="1275" spc="2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000000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full`).</a:t>
            </a:r>
            <a:endParaRPr lang="en-US" dirty="0"/>
          </a:p>
        </p:txBody>
      </p:sp>
      <p:sp>
        <p:nvSpPr>
          <p:cNvPr id="23" name="Shape 17"/>
          <p:cNvSpPr/>
          <p:nvPr/>
        </p:nvSpPr>
        <p:spPr>
          <a:xfrm>
            <a:off x="10025063" y="2424113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79BAA1"/>
            </a:solidFill>
            <a:prstDash val="solid"/>
            <a:miter lim="800000"/>
          </a:ln>
        </p:spPr>
      </p:sp>
      <p:pic>
        <p:nvPicPr>
          <p:cNvPr id="24" name="Image 4" descr="5d55156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8305" y="2643169"/>
            <a:ext cx="276225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-60c22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912489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6250" y="399901"/>
            <a:ext cx="11334750" cy="3619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879"/>
              </a:lnSpc>
            </a:pPr>
            <a:r>
              <a:rPr lang="en-US" sz="2531" spc="101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Controlling Theme with the dark: Prefix</a:t>
            </a: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76250" y="1014413"/>
            <a:ext cx="11334750" cy="2476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94"/>
              </a:lnSpc>
              <a:spcBef>
                <a:spcPts val="1949"/>
              </a:spcBef>
            </a:pPr>
            <a:r>
              <a:rPr lang="en-US" sz="1403" spc="28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One className string handles BOTH themes — no if/else, no Context, no extra state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952500" y="2720876"/>
            <a:ext cx="5098115" cy="17478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marL="241300" indent="-241300">
              <a:lnSpc>
                <a:spcPts val="1844"/>
              </a:lnSpc>
              <a:buSzPct val="100000"/>
              <a:buChar char="•"/>
            </a:pPr>
            <a:r>
              <a:rPr lang="en-US" sz="1365" spc="13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WITHOUT DARK: PREFIX</a:t>
            </a:r>
            <a:endParaRPr lang="en-US" dirty="0"/>
          </a:p>
          <a:p>
            <a:pPr algn="l" lvl="1" marL="889000" indent="-317500">
              <a:lnSpc>
                <a:spcPts val="1813"/>
              </a:lnSpc>
              <a:spcBef>
                <a:spcPts val="386"/>
              </a:spcBef>
              <a:buNone/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Requires storing `isDark` state, passing it to every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component, and writing `if/else` for every style. Example: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`const { isDark } = useTheme();</a:t>
            </a:r>
            <a:endParaRPr lang="en-US" dirty="0"/>
          </a:p>
          <a:p>
            <a:pPr algn="l" marL="241300" indent="-241300">
              <a:lnSpc>
                <a:spcPts val="1844"/>
              </a:lnSpc>
              <a:spcBef>
                <a:spcPts val="2133"/>
              </a:spcBef>
              <a:buSzPct val="100000"/>
              <a:buChar char="•"/>
            </a:pPr>
            <a:r>
              <a:rPr lang="en-US" sz="1365" spc="13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WITH DARK: PREFIX</a:t>
            </a:r>
            <a:endParaRPr lang="en-US" dirty="0"/>
          </a:p>
          <a:p>
            <a:pPr algn="l" lvl="1" marL="889000" indent="-317500">
              <a:lnSpc>
                <a:spcPts val="1813"/>
              </a:lnSpc>
              <a:spcBef>
                <a:spcPts val="386"/>
              </a:spcBef>
              <a:buNone/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Simply prefix any class with `dark:`. Example: `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286500" y="2720876"/>
            <a:ext cx="5109111" cy="119300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marL="241300" indent="-241300">
              <a:lnSpc>
                <a:spcPts val="1844"/>
              </a:lnSpc>
              <a:buSzPct val="100000"/>
              <a:buChar char="•"/>
            </a:pPr>
            <a:r>
              <a:rPr lang="en-US" sz="1365" spc="13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PATTERNS USED IN THE APP</a:t>
            </a:r>
            <a:endParaRPr lang="en-US" dirty="0"/>
          </a:p>
          <a:p>
            <a:pPr algn="l" lvl="1" marL="889000" indent="-317500">
              <a:lnSpc>
                <a:spcPts val="1813"/>
              </a:lnSpc>
              <a:spcBef>
                <a:spcPts val="386"/>
              </a:spcBef>
              <a:buNone/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Demonstrates common usage patterns such as `bg-white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dark:bg-gray-900` for screen backgrounds, `text-gray-900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dark:text-white` for text, and `bg-blue-500 dark:bg-blue-400` for buttons.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0" y="5991225"/>
            <a:ext cx="12192000" cy="866775"/>
          </a:xfrm>
          <a:prstGeom prst="rect">
            <a:avLst/>
          </a:prstGeom>
          <a:solidFill>
            <a:srgbClr val="0C0C0C"/>
          </a:solidFill>
          <a:ln>
            <a:miter lim="800000"/>
          </a:ln>
        </p:spPr>
      </p:sp>
      <p:sp>
        <p:nvSpPr>
          <p:cNvPr id="8" name="Text 5"/>
          <p:cNvSpPr/>
          <p:nvPr/>
        </p:nvSpPr>
        <p:spPr>
          <a:xfrm>
            <a:off x="2633663" y="6233815"/>
            <a:ext cx="6924675" cy="381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560"/>
              </a:lnSpc>
            </a:pPr>
            <a:r>
              <a:rPr lang="en-US" sz="1155" spc="11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ONE CLASSNAME STRING HANDLES BOTH THEMES. SWITCH THEMES GLOBALLY</a:t>
            </a:r>
            <a:br>
              <a:rPr lang="en-US" sz="1155" spc="11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</a:br>
            <a:r>
              <a:rPr lang="en-US" sz="1155" spc="11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→ EVERY `DARK:` CLASS ACTIVATES INSTANTLY ACROSS THE WHOLE APP.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340156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CA5A5"/>
                </a:solidFill>
                <a:latin typeface="Roboto Bold"/>
              </a:rPr>
              <a:t>WITHOUT dark: — you need if/else everywhere: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75887"/>
            <a:ext cx="5120640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675887"/>
            <a:ext cx="54864" cy="1234440"/>
          </a:xfrm>
          <a:prstGeom prst="rect">
            <a:avLst/>
          </a:prstGeom>
          <a:solidFill>
            <a:srgbClr val="0C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3767327"/>
            <a:ext cx="4937759" cy="10698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const {isDark} = useTheme();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&lt;View style={{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backgroundColor: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  isDark ? '#1f2937' : '#f3f4f6'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}}&gt;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// Every component needs this if/else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401568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6EFAC"/>
                </a:solidFill>
                <a:latin typeface="Roboto Bold"/>
              </a:rPr>
              <a:t>WITH dark: — one className, both themes: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3675887"/>
            <a:ext cx="5760720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3675887"/>
            <a:ext cx="54864" cy="1234440"/>
          </a:xfrm>
          <a:prstGeom prst="rect">
            <a:avLst/>
          </a:prstGeom>
          <a:solidFill>
            <a:srgbClr val="0C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17336" y="3767327"/>
            <a:ext cx="5577840" cy="10698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// No state. No if/else. Just prefix.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&lt;View className="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bg-gray-100 dark:bg-gray-800"&gt;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&lt;/View&gt;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// Switches automatically 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83480"/>
            <a:ext cx="11292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Roboto Bold"/>
              </a:rPr>
              <a:t>Patterns used in the Countries App: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257800"/>
            <a:ext cx="11292840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257800"/>
            <a:ext cx="54864" cy="1234440"/>
          </a:xfrm>
          <a:prstGeom prst="rect">
            <a:avLst/>
          </a:prstGeom>
          <a:solidFill>
            <a:srgbClr val="0C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5349240"/>
            <a:ext cx="11109960" cy="10698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bg-white dark:bg-gray-900          // screen backgrounds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text-gray-900 dark:text-white       // titles and main text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text-gray-500 dark:text-gray-400    // muted / subtitle text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bg-gray-100 dark:bg-gray-800        // card backgrounds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border-gray-200 dark:border-gray-700 // header border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bg-blue-500 dark:bg-blue-400        // buttons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770483"/>
            <a:ext cx="10601325" cy="1714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418"/>
              </a:lnSpc>
            </a:pPr>
            <a:r>
              <a:rPr lang="en-US" sz="1050" spc="105" kern="0" dirty="0">
                <a:solidFill>
                  <a:srgbClr val="5DA6B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NATIVEWIND HOOK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1191816"/>
            <a:ext cx="10601325" cy="4000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3199"/>
              </a:lnSpc>
              <a:spcBef>
                <a:spcPts val="1929"/>
              </a:spcBef>
            </a:pPr>
            <a:r>
              <a:rPr lang="en-US" sz="2813" spc="113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Controlling Theme with `useColorScheme`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6250" y="1742480"/>
            <a:ext cx="10601325" cy="2476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994"/>
              </a:lnSpc>
              <a:spcBef>
                <a:spcPts val="1162"/>
              </a:spcBef>
            </a:pPr>
            <a:r>
              <a:rPr lang="en-US" sz="1403" spc="28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Nativewind provides the useColorScheme hook for programmatic theme control.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2272903"/>
            <a:ext cx="10601325" cy="1714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418"/>
              </a:lnSpc>
              <a:spcBef>
                <a:spcPts val="2182"/>
              </a:spcBef>
            </a:pPr>
            <a:r>
              <a:rPr lang="en-US" sz="1050" spc="105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SOURCE: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6250" y="2678906"/>
            <a:ext cx="10601325" cy="1905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marL="508000" indent="-444500">
              <a:lnSpc>
                <a:spcPts val="1560"/>
              </a:lnSpc>
              <a:spcBef>
                <a:spcPts val="1810"/>
              </a:spcBef>
              <a:buNone/>
            </a:pPr>
            <a:r>
              <a:rPr lang="en-US" sz="1155" spc="11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NATIVEWIND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6250" y="3160365"/>
            <a:ext cx="10601325" cy="1714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418"/>
              </a:lnSpc>
              <a:spcBef>
                <a:spcPts val="2246"/>
              </a:spcBef>
            </a:pPr>
            <a:r>
              <a:rPr lang="en-US" sz="1050" spc="105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RETURNS: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6250" y="3490913"/>
            <a:ext cx="10601325" cy="60870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lvl="1" marL="482600" indent="-241300">
              <a:lnSpc>
                <a:spcPts val="1813"/>
              </a:lnSpc>
              <a:spcBef>
                <a:spcPts val="1228"/>
              </a:spcBef>
              <a:buSzPct val="100000"/>
              <a:buChar char="•"/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colorScheme: 'light' or 'dark'</a:t>
            </a:r>
            <a:endParaRPr lang="en-US" dirty="0"/>
          </a:p>
          <a:p>
            <a:pPr algn="l" lvl="1" marL="482600" indent="-241300">
              <a:lnSpc>
                <a:spcPts val="1813"/>
              </a:lnSpc>
              <a:spcBef>
                <a:spcPts val="1170"/>
              </a:spcBef>
              <a:buSzPct val="100000"/>
              <a:buChar char="•"/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setColorScheme: Function to switch the theme globally.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6250" y="4303663"/>
            <a:ext cx="10601325" cy="2095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702"/>
              </a:lnSpc>
              <a:spcBef>
                <a:spcPts val="1575"/>
              </a:spcBef>
            </a:pPr>
            <a:r>
              <a:rPr lang="en-US" sz="1260" spc="12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EXAMPLE: THEME TOGGLE HEADER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6250" y="4675882"/>
            <a:ext cx="10982325" cy="7429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994"/>
              </a:lnSpc>
              <a:spcBef>
                <a:spcPts val="1256"/>
              </a:spcBef>
            </a:pPr>
            <a:r>
              <a:rPr lang="en-US" sz="1403" spc="28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import { View, Text, TouchableOpacity } from 'react-native'; import { useColorScheme } from 'nativewind'; export default</a:t>
            </a:r>
            <a:br>
              <a:rPr lang="en-US" sz="1403" spc="28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403" spc="28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function Header() { const { colorScheme, setColorScheme } = useColorScheme(); const toggleColorScheme = () =&gt; { 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0" y="6181725"/>
            <a:ext cx="12192000" cy="676275"/>
          </a:xfrm>
          <a:prstGeom prst="rect">
            <a:avLst/>
          </a:prstGeom>
          <a:solidFill>
            <a:srgbClr val="0C0C0C"/>
          </a:solidFill>
          <a:ln>
            <a:miter lim="800000"/>
          </a:ln>
        </p:spPr>
      </p:sp>
      <p:sp>
        <p:nvSpPr>
          <p:cNvPr id="12" name="Text 10"/>
          <p:cNvSpPr/>
          <p:nvPr/>
        </p:nvSpPr>
        <p:spPr>
          <a:xfrm>
            <a:off x="428625" y="6424315"/>
            <a:ext cx="11334750" cy="1905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560"/>
              </a:lnSpc>
            </a:pPr>
            <a:r>
              <a:rPr lang="en-US" sz="1155" spc="11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CALLING `SETCOLORSCHEME` INSTANTLY RE-RENDERS THE APP WITH UPDATED THEME CLASSES, SIMPLIFYING THEME MANAGEMENT.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57200" y="2176272"/>
            <a:ext cx="11292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Roboto Bold"/>
              </a:rPr>
              <a:t>// Full Header component — used on BOTH screens: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50592"/>
            <a:ext cx="11292840" cy="4114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450592"/>
            <a:ext cx="54864" cy="4114800"/>
          </a:xfrm>
          <a:prstGeom prst="rect">
            <a:avLst/>
          </a:prstGeom>
          <a:solidFill>
            <a:srgbClr val="0C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2542032"/>
            <a:ext cx="11109960" cy="3950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import { useColorScheme } from "nativewind"; // NOT from react-native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import { View, Text, TouchableOpacity } from "react-native";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/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export default function Header({ title }) {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const { colorScheme, setColorScheme } = useColorScheme();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const isDark = colorScheme === 'dark';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/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return (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    // flex-row: title left, button right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    // items-center: vertically aligned | justify-between: push apart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  &lt;View className="flex-row items-center justify-between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    px-6 pt-14 pb-4 bg-white dark:bg-gray-900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    border-b border-gray-200 dark:border-gray-700"&gt;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/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    &lt;Text className="text-xl font-bold text-gray-900 dark:text-white"&gt;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      {title}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    &lt;/Text&gt;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/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    &lt;TouchableOpacity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      className="bg-gray-100 dark:bg-gray-700 px-4 py-2 rounded-full"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      onPress={() =&gt; setColorScheme(isDark ? 'light' : 'dark')}&gt;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      &lt;Text className="text-gray-900 dark:text-white font-medium"&gt;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        {isDark ? '☀️ Light' : '🌙 Dark'}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      &lt;/Text&gt;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    &lt;/TouchableOpacity&gt;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  &lt;/View&gt;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  );</a:t>
            </a:r>
          </a:p>
          <a:p>
            <a:pPr algn="l"/>
            <a:r>
              <a:rPr sz="1100" b="0">
                <a:solidFill>
                  <a:srgbClr val="7DD3FC"/>
                </a:solidFill>
                <a:latin typeface="Courier New"/>
              </a:rPr>
              <a:t>}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// One tap → setColorScheme → entire app re-renders with new theme classes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-60c22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912489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6250" y="399901"/>
            <a:ext cx="11334750" cy="3619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879"/>
              </a:lnSpc>
            </a:pPr>
            <a:r>
              <a:rPr lang="en-US" sz="2531" spc="101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Key Findings and Best Practices</a:t>
            </a: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76250" y="1014413"/>
            <a:ext cx="11334750" cy="2476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94"/>
              </a:lnSpc>
              <a:spcBef>
                <a:spcPts val="1949"/>
              </a:spcBef>
            </a:pPr>
            <a:r>
              <a:rPr lang="en-US" sz="1403" spc="28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Discoveries from the Project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952500" y="2192238"/>
            <a:ext cx="5301933" cy="367426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marL="241300" indent="-241300">
              <a:lnSpc>
                <a:spcPts val="1844"/>
              </a:lnSpc>
              <a:buSzPct val="100000"/>
              <a:buChar char="•"/>
            </a:pPr>
            <a:r>
              <a:rPr lang="en-US" sz="1365" spc="13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CONFIGURATION COMPLEXITY</a:t>
            </a:r>
            <a:endParaRPr lang="en-US" dirty="0"/>
          </a:p>
          <a:p>
            <a:pPr algn="l" lvl="1" marL="889000" indent="-317500">
              <a:lnSpc>
                <a:spcPts val="1813"/>
              </a:lnSpc>
              <a:spcBef>
                <a:spcPts val="386"/>
              </a:spcBef>
              <a:buNone/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The initial setup involving 6 files (`tailwind.config.js`,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`babel.config.js`, `metro.config.js`, `global.css`, root file import) is the most intricate part, and errors here can be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cryptic.</a:t>
            </a:r>
            <a:endParaRPr lang="en-US" dirty="0"/>
          </a:p>
          <a:p>
            <a:pPr algn="l" marL="241300" indent="-241300">
              <a:lnSpc>
                <a:spcPts val="1844"/>
              </a:lnSpc>
              <a:spcBef>
                <a:spcPts val="2133"/>
              </a:spcBef>
              <a:buSzPct val="100000"/>
              <a:buChar char="•"/>
            </a:pPr>
            <a:r>
              <a:rPr lang="en-US" sz="1365" spc="13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NATIVEWIND V4+ SETUP</a:t>
            </a:r>
            <a:endParaRPr lang="en-US" dirty="0"/>
          </a:p>
          <a:p>
            <a:pPr algn="l" lvl="1" marL="889000" indent="-317500">
              <a:lnSpc>
                <a:spcPts val="1813"/>
              </a:lnSpc>
              <a:spcBef>
                <a:spcPts val="386"/>
              </a:spcBef>
              <a:buNone/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Use `jsxImportSource: "nativewind"` in `babel.config.js`. The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Babel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plugin (`nativewind/babel`) is deprecated. This is often handled by `babel-preset-expo`.</a:t>
            </a:r>
            <a:endParaRPr lang="en-US" dirty="0"/>
          </a:p>
          <a:p>
            <a:pPr algn="l" marL="241300" indent="-241300">
              <a:lnSpc>
                <a:spcPts val="1844"/>
              </a:lnSpc>
              <a:spcBef>
                <a:spcPts val="2133"/>
              </a:spcBef>
              <a:buSzPct val="100000"/>
              <a:buChar char="•"/>
            </a:pPr>
            <a:r>
              <a:rPr lang="en-US" sz="1365" spc="13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`CLASSNAME` REPLACES `STYLESHEET`</a:t>
            </a:r>
            <a:endParaRPr lang="en-US" dirty="0"/>
          </a:p>
          <a:p>
            <a:pPr algn="l" lvl="1" marL="889000" indent="-317500">
              <a:lnSpc>
                <a:spcPts val="1813"/>
              </a:lnSpc>
              <a:spcBef>
                <a:spcPts val="386"/>
              </a:spcBef>
              <a:buNone/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The application styling was exclusively done using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`className` props, eliminating the need for `StyleSheet.create()`.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286500" y="2192238"/>
            <a:ext cx="5104524" cy="344566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marL="241300" indent="-241300">
              <a:lnSpc>
                <a:spcPts val="1844"/>
              </a:lnSpc>
              <a:buSzPct val="100000"/>
              <a:buChar char="•"/>
            </a:pPr>
            <a:r>
              <a:rPr lang="en-US" sz="1365" spc="13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THEMING WITH `DARK:` PREFIX</a:t>
            </a:r>
            <a:endParaRPr lang="en-US" dirty="0"/>
          </a:p>
          <a:p>
            <a:pPr algn="l" lvl="1" marL="889000" indent="-317500">
              <a:lnSpc>
                <a:spcPts val="1813"/>
              </a:lnSpc>
              <a:spcBef>
                <a:spcPts val="386"/>
              </a:spcBef>
              <a:buNone/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The `dark:` prefix is the most efficient method for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implementing theme switching without requiring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additional logic or state management.</a:t>
            </a:r>
            <a:endParaRPr lang="en-US" dirty="0"/>
          </a:p>
          <a:p>
            <a:pPr algn="l" marL="241300" indent="-241300">
              <a:lnSpc>
                <a:spcPts val="1844"/>
              </a:lnSpc>
              <a:spcBef>
                <a:spcPts val="2133"/>
              </a:spcBef>
              <a:buSzPct val="100000"/>
              <a:buChar char="•"/>
            </a:pPr>
            <a:r>
              <a:rPr lang="en-US" sz="1365" spc="13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CACHE CLEARING IS CRUCIAL</a:t>
            </a:r>
            <a:endParaRPr lang="en-US" dirty="0"/>
          </a:p>
          <a:p>
            <a:pPr algn="l" lvl="1" marL="889000" indent="-317500">
              <a:lnSpc>
                <a:spcPts val="1813"/>
              </a:lnSpc>
              <a:spcBef>
                <a:spcPts val="386"/>
              </a:spcBef>
              <a:buNone/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Always run `npx expo start --clear` after changing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configuration files to prevent caching issues and hard-to-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debug errors.</a:t>
            </a:r>
            <a:endParaRPr lang="en-US" dirty="0"/>
          </a:p>
          <a:p>
            <a:pPr algn="l" marL="241300" indent="-241300">
              <a:lnSpc>
                <a:spcPts val="1844"/>
              </a:lnSpc>
              <a:spcBef>
                <a:spcPts val="2133"/>
              </a:spcBef>
              <a:buSzPct val="100000"/>
              <a:buChar char="•"/>
            </a:pPr>
            <a:r>
              <a:rPr lang="en-US" sz="1365" spc="13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`FLATLIST` SPECIFIC STYLING</a:t>
            </a:r>
            <a:endParaRPr lang="en-US" dirty="0"/>
          </a:p>
          <a:p>
            <a:pPr algn="l" lvl="1" marL="889000" indent="-317500">
              <a:lnSpc>
                <a:spcPts val="1813"/>
              </a:lnSpc>
              <a:spcBef>
                <a:spcPts val="386"/>
              </a:spcBef>
              <a:buNone/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For styling the content area of `FlatList`, utilize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`contentContainerClassName` instead of applying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`className` directly to the `FlatList` component.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-60c22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912489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6250" y="399901"/>
            <a:ext cx="11334750" cy="3619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879"/>
              </a:lnSpc>
            </a:pPr>
            <a:r>
              <a:rPr lang="en-US" sz="2531" spc="101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Lab Time!</a:t>
            </a: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76250" y="1014413"/>
            <a:ext cx="11334750" cy="2476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94"/>
              </a:lnSpc>
              <a:spcBef>
                <a:spcPts val="1949"/>
              </a:spcBef>
            </a:pPr>
            <a:r>
              <a:rPr lang="en-US" sz="1403" spc="28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Configure Nativewind from Scratch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476250" y="1685925"/>
            <a:ext cx="4476750" cy="401955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6" name="Image 1" descr="hands typing on laptop">    </p:cNvPr>
          <p:cNvPicPr>
            <a:picLocks noChangeAspect="1"/>
          </p:cNvPicPr>
          <p:nvPr/>
        </p:nvPicPr>
        <p:blipFill>
          <a:blip r:embed="rId2"/>
          <a:srcRect l="12857" r="12857" t="0" b="0"/>
          <a:stretch/>
        </p:blipFill>
        <p:spPr>
          <a:xfrm>
            <a:off x="476250" y="1685925"/>
            <a:ext cx="4476750" cy="40195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29250" y="2539901"/>
            <a:ext cx="6286500" cy="230266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marL="241300" indent="-241300">
              <a:lnSpc>
                <a:spcPts val="1844"/>
              </a:lnSpc>
              <a:buSzPct val="100000"/>
              <a:buFont typeface="+mj-lt"/>
              <a:buAutoNum type="arabicPeriod" startAt="1"/>
            </a:pPr>
            <a:r>
              <a:rPr lang="en-US" sz="1365" spc="13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STEP-BY-STEP SETUP</a:t>
            </a:r>
            <a:endParaRPr lang="en-US" dirty="0"/>
          </a:p>
          <a:p>
            <a:pPr algn="l" lvl="1" marL="889000" indent="-317500">
              <a:lnSpc>
                <a:spcPts val="1813"/>
              </a:lnSpc>
              <a:spcBef>
                <a:spcPts val="386"/>
              </a:spcBef>
              <a:buNone/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Follow the provided markdown guide to set up Nativewind.</a:t>
            </a:r>
            <a:endParaRPr lang="en-US" dirty="0"/>
          </a:p>
          <a:p>
            <a:pPr algn="l" marL="241300" indent="-241300">
              <a:lnSpc>
                <a:spcPts val="1844"/>
              </a:lnSpc>
              <a:spcBef>
                <a:spcPts val="2133"/>
              </a:spcBef>
              <a:buSzPct val="100000"/>
              <a:buFont typeface="+mj-lt"/>
              <a:buAutoNum type="arabicPeriod" startAt="2"/>
            </a:pPr>
            <a:r>
              <a:rPr lang="en-US" sz="1365" spc="13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STYLE COMPONENTS</a:t>
            </a:r>
            <a:endParaRPr lang="en-US" dirty="0"/>
          </a:p>
          <a:p>
            <a:pPr algn="l" lvl="1" marL="889000" indent="-317500">
              <a:lnSpc>
                <a:spcPts val="1813"/>
              </a:lnSpc>
              <a:spcBef>
                <a:spcPts val="386"/>
              </a:spcBef>
              <a:buNone/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Utilize the Tailwind Class Cheatsheet for styling your components.</a:t>
            </a:r>
            <a:endParaRPr lang="en-US" dirty="0"/>
          </a:p>
          <a:p>
            <a:pPr algn="l" marL="241300" indent="-241300">
              <a:lnSpc>
                <a:spcPts val="1844"/>
              </a:lnSpc>
              <a:spcBef>
                <a:spcPts val="2133"/>
              </a:spcBef>
              <a:buSzPct val="100000"/>
              <a:buFont typeface="+mj-lt"/>
              <a:buAutoNum type="arabicPeriod" startAt="3"/>
            </a:pPr>
            <a:r>
              <a:rPr lang="en-US" sz="1365" spc="13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IMPLEMENT THEME SWITCHING</a:t>
            </a:r>
            <a:endParaRPr lang="en-US" dirty="0"/>
          </a:p>
          <a:p>
            <a:pPr algn="l" lvl="1" marL="889000" indent="-317500">
              <a:lnSpc>
                <a:spcPts val="1813"/>
              </a:lnSpc>
              <a:spcBef>
                <a:spcPts val="386"/>
              </a:spcBef>
              <a:buNone/>
            </a:pP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Use the `dark:` prefix and `useColorScheme` hook for theme</a:t>
            </a:r>
            <a:b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</a:br>
            <a:r>
              <a:rPr lang="en-US" sz="1275" spc="26" kern="0" dirty="0">
                <a:solidFill>
                  <a:srgbClr val="FFFFFF">
                    <a:alpha val="80000"/>
                  </a:srgbClr>
                </a:solidFill>
                <a:latin typeface="Roboto Slab Regular" pitchFamily="34" charset="0"/>
                <a:ea typeface="Roboto Slab Regular" pitchFamily="34" charset="-122"/>
                <a:cs typeface="Roboto Slab Regular" pitchFamily="34" charset="-120"/>
              </a:rPr>
              <a:t>functionality.</a:t>
            </a:r>
            <a:endParaRPr lang="en-US" dirty="0"/>
          </a:p>
        </p:txBody>
      </p:sp>
      <p:sp>
        <p:nvSpPr>
          <p:cNvPr id="8" name="Shape 4"/>
          <p:cNvSpPr/>
          <p:nvPr/>
        </p:nvSpPr>
        <p:spPr>
          <a:xfrm>
            <a:off x="0" y="6181725"/>
            <a:ext cx="12192000" cy="676275"/>
          </a:xfrm>
          <a:prstGeom prst="rect">
            <a:avLst/>
          </a:prstGeom>
          <a:solidFill>
            <a:srgbClr val="0C0C0C"/>
          </a:solidFill>
          <a:ln>
            <a:miter lim="800000"/>
          </a:ln>
        </p:spPr>
      </p:sp>
      <p:sp>
        <p:nvSpPr>
          <p:cNvPr id="9" name="Text 5"/>
          <p:cNvSpPr/>
          <p:nvPr/>
        </p:nvSpPr>
        <p:spPr>
          <a:xfrm>
            <a:off x="2881313" y="6424315"/>
            <a:ext cx="6429375" cy="1905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560"/>
              </a:lnSpc>
            </a:pPr>
            <a:r>
              <a:rPr lang="en-US" sz="1155" spc="116" kern="0" dirty="0">
                <a:solidFill>
                  <a:srgbClr val="FFFFFF">
                    <a:alpha val="80000"/>
                  </a:srgb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BEGIN BUILDING YOUR APP WITH THE POWER OF UTILITY-FIRST STYLING!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Beautiful.ai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Nativewind Unlocking React Native Styling with Tailwind CSS</dc:title>
  <dc:subject>Nativewind Unlocking React Native Styling with Tailwind CSS</dc:subject>
  <dc:creator>Malika Bana</dc:creator>
  <cp:lastModifiedBy>Malika Bana</cp:lastModifiedBy>
  <cp:revision>1</cp:revision>
  <dcterms:created xsi:type="dcterms:W3CDTF">2026-05-07T01:01:13Z</dcterms:created>
  <dcterms:modified xsi:type="dcterms:W3CDTF">2026-05-07T01:01:13Z</dcterms:modified>
</cp:coreProperties>
</file>